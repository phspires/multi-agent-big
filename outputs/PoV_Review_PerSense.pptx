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7"/>
  </p:notesMasterIdLst>
  <p:sldIdLst>
    <p:sldId id="272" r:id="rId5"/>
    <p:sldId id="273" r:id="rId6"/>
  </p:sldIdLst>
  <p:sldSz cx="12192000" cy="6858000"/>
  <p:notesSz cx="6858000" cy="9144000"/>
  <p:defaultTextStyle>
    <a:defPPr>
      <a:defRPr lang="en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38A49"/>
    <a:srgbClr val="50389C"/>
    <a:srgbClr val="342662"/>
    <a:srgbClr val="AD73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87"/>
    <p:restoredTop sz="89771"/>
  </p:normalViewPr>
  <p:slideViewPr>
    <p:cSldViewPr snapToGrid="0" showGuides="1">
      <p:cViewPr>
        <p:scale>
          <a:sx n="105" d="100"/>
          <a:sy n="105" d="100"/>
        </p:scale>
        <p:origin x="568" y="2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6D434-2A97-4B4D-98BA-C68F82192977}" type="datetimeFigureOut">
              <a:rPr lang="pt-PT" smtClean="0"/>
              <a:t>17/03/26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C29E-2CF5-2B42-8D66-6463955E1920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95706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C29E-2CF5-2B42-8D66-6463955E192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770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PT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31C29E-2CF5-2B42-8D66-6463955E1920}" type="slidenum">
              <a:rPr kumimoji="0" lang="pt-P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pt-P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15080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8BC0-B422-C29A-F9C5-EAE77B571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3F82D-E46C-7146-2570-9070AA285C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2CABA-246B-243E-0646-FA3859F0F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0ADD9-345E-0B4A-B394-FF8B0BE83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01C00-8DAA-D6C6-C6B5-DED35115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78869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090A6-8D02-DF22-6379-EC230EDF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C7607-C262-1C8A-7923-DDA420C0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74C7E-D256-865E-7DDE-DC2183A0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9EB79-1125-5A90-D281-D223B283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45425-47E5-2B5D-2AE5-2BF09C6E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2511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2B83-AC29-450E-4844-4B4E74C48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DDEEEA-F275-30A2-DC8C-0B19772BF1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A97CD-0F34-1B5C-C1CE-E832058DE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DE349-F7CB-3FFC-5F09-683FA832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A2507-D057-7623-745E-827104527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23178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7547-0FFB-A013-41A0-B203F69D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6C106-4519-C17B-9299-2D400E7169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F5D61-1C99-BEC3-3F07-FA3B3FB87E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2753D-C525-B654-AB3C-B31E19793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706080-9720-FE12-C0C2-51330A1C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60F513-646B-C407-9249-6AB6023A9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3897708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B294D-559C-FD1D-5AD9-170ED86B7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BE523-1220-2CC5-AAAE-FFC2819813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E9892-A89B-0231-F41F-9ECB78B209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737819-9F40-3B04-4851-6E5FE93DDE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6975F1-0F4C-A1C5-98FF-3EFD3C193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6EA462-2B7A-8C75-1656-EAA9B1CB0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8556A0-FADA-9983-5CD0-B42AF9F7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736284-589F-01E6-7127-BB04D0083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951173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FCA41-6F3F-C8BD-51F2-AF0B8960A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E8FC5-247C-E6D1-EC96-B9A399084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D85D3-B880-447D-0B0B-5D9B94D13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F64855-C90A-8914-5BD0-716290A51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24668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A2A5D6-7BBE-0CDB-C2C6-6F37FBC7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6CE2E6-1A2D-E319-274D-4F15F42B3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7155A-D9E1-E239-C0F2-D68C34752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491765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9B951-8E98-BC8E-4139-93A60BD7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D474E-37AB-CD33-5DCA-26745F71B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65E4E-9411-E086-B715-4D51B345DE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1C115-CAA3-9A80-FBB6-009E68D8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681545-0096-61E3-5185-F9782FB3C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44FB5-C3C1-1BD6-3821-7FF1847DB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6773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8D30A-F9B8-0E45-442B-351DDCA8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2775E8-93E6-6144-65F2-DCDDA6A83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84C14-F966-6132-4ABF-4F08ED9EB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7C5C6-3CF9-D627-8424-155305834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E3A4F-1A47-BC4D-B4B8-15CB1A63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CEE1A-E365-CE04-7340-B6313F64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49321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64445-E279-1BA0-4385-AD04F782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BED0DB-66CA-A26A-3950-FB091A574A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C08C6F-4B0B-9A60-9D60-B9EE36474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58FF1F-884D-81FE-1CC3-EB3B67D7A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0A91-1FF8-B4A0-A4E8-113307FDD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744127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20743-E1C7-D6F1-CE5D-AFC4E68313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BD6847-C5AF-41A0-D827-6FA67BE64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0BF2-F199-4662-6E90-F9E2D46D0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3D850-7AFA-0CE8-9C9A-05C472F57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3EE49D-7618-29BD-44BC-5759453D2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21291309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C7ED7-BCED-4BFB-61F5-A0EB52142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F79C1B-61D2-72CF-A986-D02BE89B4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D6075-EAED-56E9-C7AD-7CA86594E7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6B461-D8D2-674E-A57B-6C56862476A2}" type="datetimeFigureOut">
              <a:rPr lang="en-PT" smtClean="0"/>
              <a:t>3/17/26</a:t>
            </a:fld>
            <a:endParaRPr lang="en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EDA10-8C18-62DC-CFBE-509BE97BB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4D07B-813E-9778-7F1D-5D862762EA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1D73D-94AC-AE40-9A42-AB7E966AD0F4}" type="slidenum">
              <a:rPr lang="en-PT" smtClean="0"/>
              <a:t>‹nº›</a:t>
            </a:fld>
            <a:endParaRPr lang="en-PT"/>
          </a:p>
        </p:txBody>
      </p:sp>
    </p:spTree>
    <p:extLst>
      <p:ext uri="{BB962C8B-B14F-4D97-AF65-F5344CB8AC3E}">
        <p14:creationId xmlns:p14="http://schemas.microsoft.com/office/powerpoint/2010/main" val="1674192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E9A9B-A244-22E5-671E-662871F1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6B89DA2C-C322-BB1A-7F26-D34E00EFC163}"/>
              </a:ext>
            </a:extLst>
          </p:cNvPr>
          <p:cNvGrpSpPr/>
          <p:nvPr/>
        </p:nvGrpSpPr>
        <p:grpSpPr>
          <a:xfrm>
            <a:off x="527700" y="1902202"/>
            <a:ext cx="5348052" cy="2069509"/>
            <a:chOff x="501042" y="1941534"/>
            <a:chExt cx="5830446" cy="2330425"/>
          </a:xfrm>
        </p:grpSpPr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20FD136B-8063-6612-3079-28D7AD2F6652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72D06E-014D-4F40-12B7-EACD946F7782}"/>
                </a:ext>
              </a:extLst>
            </p:cNvPr>
            <p:cNvSpPr txBox="1"/>
            <p:nvPr/>
          </p:nvSpPr>
          <p:spPr>
            <a:xfrm>
              <a:off x="994512" y="208102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1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Para sobreviventes de cancro da mama (BCS) nos primeiros 24 meses pós-tratamento, em follow-up senologia/oncologia hospitalar (PT), o problema é a recaída emocional entre consultas: 30–40% desenvolvem ansiedade/depressão clínica [EV-019] e &lt;20% recebem apoio formal [EV-016]. Picos fora da consulta ficam invisíveis (medir PHQ-9/GAD-7 e dias até contacto). Status quo falha por triagem episódica → sintomas escalam sem deteção. Pergunta: que sinal passivo as BCS aceitam sem sobrecarregar a equipa?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A26E6D2-4BAF-C741-D8BF-A008599A9B0C}"/>
              </a:ext>
            </a:extLst>
          </p:cNvPr>
          <p:cNvSpPr txBox="1"/>
          <p:nvPr/>
        </p:nvSpPr>
        <p:spPr>
          <a:xfrm>
            <a:off x="2215785" y="502416"/>
            <a:ext cx="7680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</a:t>
            </a:r>
            <a:endParaRPr kumimoji="0" lang="en-PT" sz="48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6" descr="A purple and black logo&#10;&#10;AI-generated content may be incorrect.">
            <a:extLst>
              <a:ext uri="{FF2B5EF4-FFF2-40B4-BE49-F238E27FC236}">
                <a16:creationId xmlns:a16="http://schemas.microsoft.com/office/drawing/2014/main" id="{096B2816-B90A-6EDE-2AEE-E0E39AF1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328" y="580628"/>
            <a:ext cx="1530263" cy="910871"/>
          </a:xfrm>
          <a:prstGeom prst="rect">
            <a:avLst/>
          </a:prstGeom>
        </p:spPr>
      </p:pic>
      <p:sp>
        <p:nvSpPr>
          <p:cNvPr id="5" name="TextBox 7">
            <a:extLst>
              <a:ext uri="{FF2B5EF4-FFF2-40B4-BE49-F238E27FC236}">
                <a16:creationId xmlns:a16="http://schemas.microsoft.com/office/drawing/2014/main" id="{23D72617-9BF0-5B67-F227-F10F087B97D3}"/>
              </a:ext>
            </a:extLst>
          </p:cNvPr>
          <p:cNvSpPr txBox="1"/>
          <p:nvPr/>
        </p:nvSpPr>
        <p:spPr>
          <a:xfrm>
            <a:off x="476279" y="1200061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Problem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Statement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1400" b="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(max. 500 caracteres)</a:t>
            </a:r>
            <a:endParaRPr kumimoji="0" lang="en-PT" sz="1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6" name="Group 20">
            <a:extLst>
              <a:ext uri="{FF2B5EF4-FFF2-40B4-BE49-F238E27FC236}">
                <a16:creationId xmlns:a16="http://schemas.microsoft.com/office/drawing/2014/main" id="{2C757934-0915-A618-DCA2-5B961947663D}"/>
              </a:ext>
            </a:extLst>
          </p:cNvPr>
          <p:cNvGrpSpPr/>
          <p:nvPr/>
        </p:nvGrpSpPr>
        <p:grpSpPr>
          <a:xfrm>
            <a:off x="527704" y="4577833"/>
            <a:ext cx="5348048" cy="868020"/>
            <a:chOff x="797219" y="1955170"/>
            <a:chExt cx="5830439" cy="977456"/>
          </a:xfrm>
        </p:grpSpPr>
        <p:sp>
          <p:nvSpPr>
            <p:cNvPr id="7" name="Rounded Rectangle 2">
              <a:extLst>
                <a:ext uri="{FF2B5EF4-FFF2-40B4-BE49-F238E27FC236}">
                  <a16:creationId xmlns:a16="http://schemas.microsoft.com/office/drawing/2014/main" id="{77EF0149-3519-669D-B5A4-656A1614194E}"/>
                </a:ext>
              </a:extLst>
            </p:cNvPr>
            <p:cNvSpPr/>
            <p:nvPr/>
          </p:nvSpPr>
          <p:spPr>
            <a:xfrm>
              <a:off x="797219" y="1955170"/>
              <a:ext cx="5830439" cy="636916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6E129F50-19B3-D3E2-29C5-C2831F92C14D}"/>
                </a:ext>
              </a:extLst>
            </p:cNvPr>
            <p:cNvSpPr txBox="1"/>
            <p:nvPr/>
          </p:nvSpPr>
          <p:spPr>
            <a:xfrm>
              <a:off x="1015053" y="1989278"/>
              <a:ext cx="5297396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4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Monitorização adaptativa entre consultas reduz PHQ-9/GAD-7 em BCS pós-tratamento (semanas 0-12).</a:t>
              </a:r>
            </a:p>
          </p:txBody>
        </p:sp>
      </p:grpSp>
      <p:sp>
        <p:nvSpPr>
          <p:cNvPr id="11" name="TextBox 7">
            <a:extLst>
              <a:ext uri="{FF2B5EF4-FFF2-40B4-BE49-F238E27FC236}">
                <a16:creationId xmlns:a16="http://schemas.microsoft.com/office/drawing/2014/main" id="{338A0B16-6F05-F4A9-CD16-005C60A77D2B}"/>
              </a:ext>
            </a:extLst>
          </p:cNvPr>
          <p:cNvSpPr txBox="1"/>
          <p:nvPr/>
        </p:nvSpPr>
        <p:spPr>
          <a:xfrm>
            <a:off x="256031" y="3937143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Hipótese de valor</a:t>
            </a:r>
            <a:endParaRPr kumimoji="0" lang="en-PT" sz="1400" b="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6" name="Group 20">
            <a:extLst>
              <a:ext uri="{FF2B5EF4-FFF2-40B4-BE49-F238E27FC236}">
                <a16:creationId xmlns:a16="http://schemas.microsoft.com/office/drawing/2014/main" id="{FB854D6C-30DE-7BCD-7EEF-5E87D19BDDF5}"/>
              </a:ext>
            </a:extLst>
          </p:cNvPr>
          <p:cNvGrpSpPr/>
          <p:nvPr/>
        </p:nvGrpSpPr>
        <p:grpSpPr>
          <a:xfrm>
            <a:off x="527704" y="5358587"/>
            <a:ext cx="5348048" cy="384403"/>
            <a:chOff x="698338" y="1900846"/>
            <a:chExt cx="5830439" cy="432867"/>
          </a:xfrm>
        </p:grpSpPr>
        <p:sp>
          <p:nvSpPr>
            <p:cNvPr id="17" name="Rounded Rectangle 2">
              <a:extLst>
                <a:ext uri="{FF2B5EF4-FFF2-40B4-BE49-F238E27FC236}">
                  <a16:creationId xmlns:a16="http://schemas.microsoft.com/office/drawing/2014/main" id="{4CE3A3FA-10B5-003F-7208-AA150D20DAB6}"/>
                </a:ext>
              </a:extLst>
            </p:cNvPr>
            <p:cNvSpPr/>
            <p:nvPr/>
          </p:nvSpPr>
          <p:spPr>
            <a:xfrm>
              <a:off x="698338" y="1941536"/>
              <a:ext cx="5830439" cy="392177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2A893D6D-EBF3-255D-F9B8-F78D5F2B080F}"/>
                </a:ext>
              </a:extLst>
            </p:cNvPr>
            <p:cNvSpPr txBox="1"/>
            <p:nvPr/>
          </p:nvSpPr>
          <p:spPr>
            <a:xfrm>
              <a:off x="816770" y="1900846"/>
              <a:ext cx="5297396" cy="4328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(principal) Redução média PHQ-9 ≥3 pontos e GAD-7 ≥2 pontos às 12 semanas em BCS consentidas, com replicação da AUC 0.78 [EV-043, internal_only] na deteção de recaída entre consultas em cohort PT independente.</a:t>
              </a:r>
            </a:p>
          </p:txBody>
        </p:sp>
      </p:grpSp>
      <p:sp>
        <p:nvSpPr>
          <p:cNvPr id="19" name="TextBox 7">
            <a:extLst>
              <a:ext uri="{FF2B5EF4-FFF2-40B4-BE49-F238E27FC236}">
                <a16:creationId xmlns:a16="http://schemas.microsoft.com/office/drawing/2014/main" id="{25BCD75B-B04D-91CD-8769-863099E59E5C}"/>
              </a:ext>
            </a:extLst>
          </p:cNvPr>
          <p:cNvSpPr txBox="1"/>
          <p:nvPr/>
        </p:nvSpPr>
        <p:spPr>
          <a:xfrm rot="16200000">
            <a:off x="-790591" y="5630438"/>
            <a:ext cx="1968519" cy="66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Métricas</a:t>
            </a:r>
            <a:endParaRPr kumimoji="0" lang="en-PT" sz="110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45E5F19C-7A30-18A9-E0B3-E0097A74CD31}"/>
              </a:ext>
            </a:extLst>
          </p:cNvPr>
          <p:cNvSpPr/>
          <p:nvPr/>
        </p:nvSpPr>
        <p:spPr>
          <a:xfrm>
            <a:off x="527704" y="5790339"/>
            <a:ext cx="5348048" cy="348269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Rounded Rectangle 2">
            <a:extLst>
              <a:ext uri="{FF2B5EF4-FFF2-40B4-BE49-F238E27FC236}">
                <a16:creationId xmlns:a16="http://schemas.microsoft.com/office/drawing/2014/main" id="{7D49AE5F-A8C0-FE0A-EBB6-8DB682F67CD9}"/>
              </a:ext>
            </a:extLst>
          </p:cNvPr>
          <p:cNvSpPr/>
          <p:nvPr/>
        </p:nvSpPr>
        <p:spPr>
          <a:xfrm>
            <a:off x="527704" y="6185957"/>
            <a:ext cx="5348048" cy="348269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5" name="TextBox 7">
            <a:extLst>
              <a:ext uri="{FF2B5EF4-FFF2-40B4-BE49-F238E27FC236}">
                <a16:creationId xmlns:a16="http://schemas.microsoft.com/office/drawing/2014/main" id="{8A61469D-30A1-2074-75BD-C7008E815508}"/>
              </a:ext>
            </a:extLst>
          </p:cNvPr>
          <p:cNvSpPr txBox="1"/>
          <p:nvPr/>
        </p:nvSpPr>
        <p:spPr>
          <a:xfrm>
            <a:off x="636336" y="5734284"/>
            <a:ext cx="4859107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(suporte 1) Precisão/recall da deteção de deterioração entre consultas: precisão ≥0.70, recall ≥0.65 contra avaliação clínica de referência (PHQ-9/GAD-7 ≥10 confirmatório), com volume de alertas bounded ≤2/clínico/semana.</a:t>
            </a:r>
          </a:p>
        </p:txBody>
      </p:sp>
      <p:sp>
        <p:nvSpPr>
          <p:cNvPr id="36" name="TextBox 7">
            <a:extLst>
              <a:ext uri="{FF2B5EF4-FFF2-40B4-BE49-F238E27FC236}">
                <a16:creationId xmlns:a16="http://schemas.microsoft.com/office/drawing/2014/main" id="{93CEBFAA-F96B-3B4C-2EEF-F3F85417DE9A}"/>
              </a:ext>
            </a:extLst>
          </p:cNvPr>
          <p:cNvSpPr txBox="1"/>
          <p:nvPr/>
        </p:nvSpPr>
        <p:spPr>
          <a:xfrm>
            <a:off x="636335" y="6124245"/>
            <a:ext cx="4859107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90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(suporte 2) ≥2 unidades de senologia privada PT (CUF / Lusíadas / Luz Saúde) assinam LOI ou piloto pago a ≥€200/clínico/mês até semana 12 [EV-047], com DPIA GDPR co-assinado por DPO hospitalar [EV-062].</a:t>
            </a:r>
          </a:p>
        </p:txBody>
      </p:sp>
      <p:grpSp>
        <p:nvGrpSpPr>
          <p:cNvPr id="4" name="Group 20">
            <a:extLst>
              <a:ext uri="{FF2B5EF4-FFF2-40B4-BE49-F238E27FC236}">
                <a16:creationId xmlns:a16="http://schemas.microsoft.com/office/drawing/2014/main" id="{38A47D82-CE86-E4FA-CB5C-AAD7C1785198}"/>
              </a:ext>
            </a:extLst>
          </p:cNvPr>
          <p:cNvGrpSpPr/>
          <p:nvPr/>
        </p:nvGrpSpPr>
        <p:grpSpPr>
          <a:xfrm>
            <a:off x="6379815" y="2394245"/>
            <a:ext cx="5348052" cy="4114401"/>
            <a:chOff x="501042" y="1941534"/>
            <a:chExt cx="5830446" cy="2330425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13F6DE42-9C20-A669-5B30-AEEBB3C0FF8F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6B6F34CD-39D9-AD5B-FA9B-0F24C723508B}"/>
                </a:ext>
              </a:extLst>
            </p:cNvPr>
            <p:cNvSpPr txBox="1"/>
            <p:nvPr/>
          </p:nvSpPr>
          <p:spPr>
            <a:xfrm>
              <a:off x="958997" y="205198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Sobreviventes cancro mama (BCS) — PT e UE · ~36K (PT); ~750K (UE) · Relatório Saúde Mental Digital (GLOBOCAN 2022) [EV-020]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BCS com ansiedade/depressão clínica · 30–40% · Relatório Saúde Mental Digital — Epidemiologia [EV-019]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BCS que recebem apoio psicológico formal · &lt;20% · Relatório Saúde Mental Digital — Treatment gap [EV-016]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mHealth: redução de ansiedade / depressão · SMD -0,68 / -0,49 (139 RCTs, N=19.233) · Meta-análise mHealth, 2025 [EV-023]</a:t>
              </a:r>
            </a:p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Reembolso DiGA por paciente/ano (DE, GKV) · €200–600 (cobertura 73M segurados) · BfArM — Modelo DiGA / GKV [EV-060]</a:t>
              </a: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AA73EDA0-0224-CDA6-D0B9-48697F9C4AAA}"/>
              </a:ext>
            </a:extLst>
          </p:cNvPr>
          <p:cNvSpPr txBox="1"/>
          <p:nvPr/>
        </p:nvSpPr>
        <p:spPr>
          <a:xfrm>
            <a:off x="6328394" y="1692104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Tabela de Evidências</a:t>
            </a:r>
            <a:endParaRPr kumimoji="0" lang="en-PT" sz="1400" b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795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DE9A9B-A244-22E5-671E-662871F1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CA26E6D2-4BAF-C741-D8BF-A008599A9B0C}"/>
              </a:ext>
            </a:extLst>
          </p:cNvPr>
          <p:cNvSpPr txBox="1"/>
          <p:nvPr/>
        </p:nvSpPr>
        <p:spPr>
          <a:xfrm>
            <a:off x="2215785" y="502416"/>
            <a:ext cx="76805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Proof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  <a:r>
              <a:rPr kumimoji="0" lang="pt-PT" sz="4800" b="1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pt-PT" sz="4800" b="1" i="0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Review</a:t>
            </a:r>
            <a:endParaRPr kumimoji="0" lang="en-PT" sz="4800" b="1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" name="Picture 6" descr="A purple and black logo&#10;&#10;AI-generated content may be incorrect.">
            <a:extLst>
              <a:ext uri="{FF2B5EF4-FFF2-40B4-BE49-F238E27FC236}">
                <a16:creationId xmlns:a16="http://schemas.microsoft.com/office/drawing/2014/main" id="{096B2816-B90A-6EDE-2AEE-E0E39AF19E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328" y="580628"/>
            <a:ext cx="1530263" cy="910871"/>
          </a:xfrm>
          <a:prstGeom prst="rect">
            <a:avLst/>
          </a:prstGeom>
        </p:spPr>
      </p:pic>
      <p:grpSp>
        <p:nvGrpSpPr>
          <p:cNvPr id="4" name="Group 20">
            <a:extLst>
              <a:ext uri="{FF2B5EF4-FFF2-40B4-BE49-F238E27FC236}">
                <a16:creationId xmlns:a16="http://schemas.microsoft.com/office/drawing/2014/main" id="{38A47D82-CE86-E4FA-CB5C-AAD7C1785198}"/>
              </a:ext>
            </a:extLst>
          </p:cNvPr>
          <p:cNvGrpSpPr/>
          <p:nvPr/>
        </p:nvGrpSpPr>
        <p:grpSpPr>
          <a:xfrm>
            <a:off x="344775" y="2035554"/>
            <a:ext cx="5751226" cy="4487165"/>
            <a:chOff x="501042" y="1941534"/>
            <a:chExt cx="5830446" cy="2330425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13F6DE42-9C20-A669-5B30-AEEBB3C0FF8F}"/>
                </a:ext>
              </a:extLst>
            </p:cNvPr>
            <p:cNvSpPr/>
            <p:nvPr/>
          </p:nvSpPr>
          <p:spPr>
            <a:xfrm>
              <a:off x="501042" y="1941534"/>
              <a:ext cx="5830446" cy="2330425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6B6F34CD-39D9-AD5B-FA9B-0F24C723508B}"/>
                </a:ext>
              </a:extLst>
            </p:cNvPr>
            <p:cNvSpPr txBox="1"/>
            <p:nvPr/>
          </p:nvSpPr>
          <p:spPr>
            <a:xfrm>
              <a:off x="958997" y="2051984"/>
              <a:ext cx="5098590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Piloto 12 semanas, mindLAMP Stack A, N=30–50 BCS 0–24 meses pós-tratamento ativo, recrutadas em consulta de senologia privada PT (CUF Oncologia primário; Lusíadas e Luz Saúde paralelos; IPO backup). Onboarding mediado pela equipa de senologia (modelo Limbic, EV-026). EMA PHQ-9/GAD-7 nas semanas 0/4/8/12 + sensing passivo + alertas priorizados ao dashboard de senologia (≤2/clínico/semana). Endpoint principal: delta PHQ-9 ≥3 / GAD-7 ≥2 e replicação AUC ≥0.72 em hold-out PT independente face a EV-043 (AUC 0.78, internal_only). Endpoint comercial: ≥2 LOIs hospitalares a ≥€200/clínico/mês [EV-047]. DPIA GDPR co-assinado com DPO hospitalar [EV-062]. Custo €5–10K externo ao orçamento da instituição-anfitriã [EV-046]; orçamento hospitalar €0 e zero novas contratações.</a:t>
              </a:r>
            </a:p>
          </p:txBody>
        </p:sp>
      </p:grpSp>
      <p:sp>
        <p:nvSpPr>
          <p:cNvPr id="13" name="TextBox 7">
            <a:extLst>
              <a:ext uri="{FF2B5EF4-FFF2-40B4-BE49-F238E27FC236}">
                <a16:creationId xmlns:a16="http://schemas.microsoft.com/office/drawing/2014/main" id="{AA73EDA0-0224-CDA6-D0B9-48697F9C4AAA}"/>
              </a:ext>
            </a:extLst>
          </p:cNvPr>
          <p:cNvSpPr txBox="1"/>
          <p:nvPr/>
        </p:nvSpPr>
        <p:spPr>
          <a:xfrm>
            <a:off x="293354" y="1333413"/>
            <a:ext cx="6043375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Pilot</a:t>
            </a: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Sketch</a:t>
            </a:r>
            <a:endParaRPr kumimoji="0" lang="en-PT" sz="14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CE84DED7-1C19-B8C7-E6C6-A67B5A994D3C}"/>
              </a:ext>
            </a:extLst>
          </p:cNvPr>
          <p:cNvGrpSpPr/>
          <p:nvPr/>
        </p:nvGrpSpPr>
        <p:grpSpPr>
          <a:xfrm>
            <a:off x="6608402" y="2805100"/>
            <a:ext cx="5348048" cy="868020"/>
            <a:chOff x="797219" y="1955170"/>
            <a:chExt cx="5830439" cy="977456"/>
          </a:xfrm>
        </p:grpSpPr>
        <p:sp>
          <p:nvSpPr>
            <p:cNvPr id="22" name="Rounded Rectangle 2">
              <a:extLst>
                <a:ext uri="{FF2B5EF4-FFF2-40B4-BE49-F238E27FC236}">
                  <a16:creationId xmlns:a16="http://schemas.microsoft.com/office/drawing/2014/main" id="{2CC21D53-055A-BA1F-7FD1-5E4483FED00D}"/>
                </a:ext>
              </a:extLst>
            </p:cNvPr>
            <p:cNvSpPr/>
            <p:nvPr/>
          </p:nvSpPr>
          <p:spPr>
            <a:xfrm>
              <a:off x="797219" y="1955170"/>
              <a:ext cx="5830439" cy="636916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3" name="TextBox 7">
              <a:extLst>
                <a:ext uri="{FF2B5EF4-FFF2-40B4-BE49-F238E27FC236}">
                  <a16:creationId xmlns:a16="http://schemas.microsoft.com/office/drawing/2014/main" id="{259D2803-E119-D143-1691-C3163B373565}"/>
                </a:ext>
              </a:extLst>
            </p:cNvPr>
            <p:cNvSpPr txBox="1"/>
            <p:nvPr/>
          </p:nvSpPr>
          <p:spPr>
            <a:xfrm>
              <a:off x="1015053" y="1989278"/>
              <a:ext cx="5297396" cy="9433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306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90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€5–10K, externo ao orçamento da instituição-anfitriã (host hospitalar €0, sem novas contratações). Anchor: EV-046 — desenvolvedor 30h €3–6K + infra mindLAMP Hetzner 3m €120 [EV-038] + 10 Fitbits reutilizáveis €2–3K + DPIA/contingência. Comparável: iNNOVSensing custou €120K para output estratégico equivalente [EV-048].</a:t>
              </a:r>
            </a:p>
          </p:txBody>
        </p:sp>
      </p:grpSp>
      <p:sp>
        <p:nvSpPr>
          <p:cNvPr id="24" name="TextBox 7">
            <a:extLst>
              <a:ext uri="{FF2B5EF4-FFF2-40B4-BE49-F238E27FC236}">
                <a16:creationId xmlns:a16="http://schemas.microsoft.com/office/drawing/2014/main" id="{FE3A28CD-FE52-E24D-9E9A-DD92C12FD034}"/>
              </a:ext>
            </a:extLst>
          </p:cNvPr>
          <p:cNvSpPr txBox="1"/>
          <p:nvPr/>
        </p:nvSpPr>
        <p:spPr>
          <a:xfrm>
            <a:off x="6336729" y="2164410"/>
            <a:ext cx="5619721" cy="696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3200" b="1" i="1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Budget Range</a:t>
            </a:r>
            <a:endParaRPr kumimoji="0" lang="en-PT" sz="1400" b="0" i="1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5" name="Group 20">
            <a:extLst>
              <a:ext uri="{FF2B5EF4-FFF2-40B4-BE49-F238E27FC236}">
                <a16:creationId xmlns:a16="http://schemas.microsoft.com/office/drawing/2014/main" id="{63D08D4C-1328-9126-B014-A65CFCCB25B4}"/>
              </a:ext>
            </a:extLst>
          </p:cNvPr>
          <p:cNvGrpSpPr/>
          <p:nvPr/>
        </p:nvGrpSpPr>
        <p:grpSpPr>
          <a:xfrm>
            <a:off x="7087932" y="3631995"/>
            <a:ext cx="4967737" cy="563414"/>
            <a:chOff x="698338" y="1941536"/>
            <a:chExt cx="5415824" cy="634447"/>
          </a:xfrm>
        </p:grpSpPr>
        <p:sp>
          <p:nvSpPr>
            <p:cNvPr id="26" name="Rounded Rectangle 2">
              <a:extLst>
                <a:ext uri="{FF2B5EF4-FFF2-40B4-BE49-F238E27FC236}">
                  <a16:creationId xmlns:a16="http://schemas.microsoft.com/office/drawing/2014/main" id="{1F312293-3B5D-C865-0C84-0FA9D9746632}"/>
                </a:ext>
              </a:extLst>
            </p:cNvPr>
            <p:cNvSpPr/>
            <p:nvPr/>
          </p:nvSpPr>
          <p:spPr>
            <a:xfrm>
              <a:off x="698338" y="1941536"/>
              <a:ext cx="5297396" cy="634447"/>
            </a:xfrm>
            <a:prstGeom prst="roundRect">
              <a:avLst>
                <a:gd name="adj" fmla="val 25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PT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TextBox 7">
              <a:extLst>
                <a:ext uri="{FF2B5EF4-FFF2-40B4-BE49-F238E27FC236}">
                  <a16:creationId xmlns:a16="http://schemas.microsoft.com/office/drawing/2014/main" id="{EB1A8354-692F-7A00-D520-98BC10308E6A}"/>
                </a:ext>
              </a:extLst>
            </p:cNvPr>
            <p:cNvSpPr txBox="1"/>
            <p:nvPr/>
          </p:nvSpPr>
          <p:spPr>
            <a:xfrm>
              <a:off x="816766" y="1983018"/>
              <a:ext cx="5297396" cy="4328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850" b="0" i="0" u="none" strike="noStrike" kern="1200" cap="none" spc="-150" normalizeH="0" baseline="0" noProof="0" dirty="0">
                  <a:ln>
                    <a:noFill/>
                  </a:ln>
                  <a:solidFill>
                    <a:srgbClr val="342662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 equipa de senologia de pelo menos um hospital privado PT (CUF / Lusíadas / Luz Saúde) refere ≥50% das BCS elegíveis ao piloto e absorve ≤2 alertas/clínico/semana sem novas contratações nem aumento de orçamento hospitalar.</a:t>
              </a:r>
            </a:p>
          </p:txBody>
        </p:sp>
      </p:grpSp>
      <p:sp>
        <p:nvSpPr>
          <p:cNvPr id="37" name="Rounded Rectangle 2">
            <a:extLst>
              <a:ext uri="{FF2B5EF4-FFF2-40B4-BE49-F238E27FC236}">
                <a16:creationId xmlns:a16="http://schemas.microsoft.com/office/drawing/2014/main" id="{89FF58CE-9206-CCB4-E8CA-0CF2BF38BA3A}"/>
              </a:ext>
            </a:extLst>
          </p:cNvPr>
          <p:cNvSpPr/>
          <p:nvPr/>
        </p:nvSpPr>
        <p:spPr>
          <a:xfrm>
            <a:off x="7087932" y="4322280"/>
            <a:ext cx="4859108" cy="563414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B43FD5FE-5344-DF55-ECC8-60DD9B81E368}"/>
              </a:ext>
            </a:extLst>
          </p:cNvPr>
          <p:cNvSpPr/>
          <p:nvPr/>
        </p:nvSpPr>
        <p:spPr>
          <a:xfrm>
            <a:off x="7087932" y="5011080"/>
            <a:ext cx="4859108" cy="563414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9" name="TextBox 7">
            <a:extLst>
              <a:ext uri="{FF2B5EF4-FFF2-40B4-BE49-F238E27FC236}">
                <a16:creationId xmlns:a16="http://schemas.microsoft.com/office/drawing/2014/main" id="{A5161EE8-B9A3-8D0F-F912-63B863D69D58}"/>
              </a:ext>
            </a:extLst>
          </p:cNvPr>
          <p:cNvSpPr txBox="1"/>
          <p:nvPr/>
        </p:nvSpPr>
        <p:spPr>
          <a:xfrm>
            <a:off x="7196562" y="4361399"/>
            <a:ext cx="4859108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5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 AUC 0.78 da deteção de depressão em BCS [EV-043, internal_only, N=126] replica em hold-out PT independente a ≥0.72, com EMA-compliance ≥50% e mix iOS/Android documentado [EV-039, EV-040].</a:t>
            </a:r>
          </a:p>
        </p:txBody>
      </p:sp>
      <p:sp>
        <p:nvSpPr>
          <p:cNvPr id="40" name="TextBox 7">
            <a:extLst>
              <a:ext uri="{FF2B5EF4-FFF2-40B4-BE49-F238E27FC236}">
                <a16:creationId xmlns:a16="http://schemas.microsoft.com/office/drawing/2014/main" id="{90B59517-861A-54FC-0287-C130711E3989}"/>
              </a:ext>
            </a:extLst>
          </p:cNvPr>
          <p:cNvSpPr txBox="1"/>
          <p:nvPr/>
        </p:nvSpPr>
        <p:spPr>
          <a:xfrm>
            <a:off x="7196561" y="5074649"/>
            <a:ext cx="4859108" cy="38440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850" b="0" i="0" u="none" strike="noStrike" kern="1200" cap="none" spc="-150" normalizeH="0" baseline="0" noProof="0" dirty="0">
                <a:ln>
                  <a:noFill/>
                </a:ln>
                <a:solidFill>
                  <a:srgbClr val="34266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Pelo menos 2 unidades de senologia privada PT assinam LOI ou piloto pago a ≥€200/clínico/mês até semana 12 [EV-047], com DPIA GDPR co-assinado pelo DPO hospitalar para neutralizar o risco precedente de €2.3M [EV-062].</a:t>
            </a:r>
          </a:p>
        </p:txBody>
      </p:sp>
      <p:sp>
        <p:nvSpPr>
          <p:cNvPr id="41" name="TextBox 7">
            <a:extLst>
              <a:ext uri="{FF2B5EF4-FFF2-40B4-BE49-F238E27FC236}">
                <a16:creationId xmlns:a16="http://schemas.microsoft.com/office/drawing/2014/main" id="{B85DC971-E087-1B90-BE5B-475B122FD9DE}"/>
              </a:ext>
            </a:extLst>
          </p:cNvPr>
          <p:cNvSpPr txBox="1"/>
          <p:nvPr/>
        </p:nvSpPr>
        <p:spPr>
          <a:xfrm rot="16200000">
            <a:off x="5686505" y="4269952"/>
            <a:ext cx="1968519" cy="668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0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2400" i="0" u="none" strike="noStrike" kern="1200" cap="none" spc="-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Pressupostos</a:t>
            </a:r>
            <a:endParaRPr kumimoji="0" lang="en-PT" sz="1100" i="0" u="none" strike="noStrike" kern="1200" cap="none" spc="-15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0732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Impact - Template PPT" id="{95EE8C36-BFF4-7B4B-8532-94D4E396CBD6}" vid="{1F275DBF-16B4-7C4C-AE26-8493DBDF7CD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61E9B0A7FBF2C4CB2E406794A264955" ma:contentTypeVersion="3" ma:contentTypeDescription="Criar um novo documento." ma:contentTypeScope="" ma:versionID="7693e30c31776aba2e38fede484b892f">
  <xsd:schema xmlns:xsd="http://www.w3.org/2001/XMLSchema" xmlns:xs="http://www.w3.org/2001/XMLSchema" xmlns:p="http://schemas.microsoft.com/office/2006/metadata/properties" xmlns:ns2="93a59706-6099-4f40-8eb4-c72b6da4c22e" targetNamespace="http://schemas.microsoft.com/office/2006/metadata/properties" ma:root="true" ma:fieldsID="d76c1fa9a2c371610e68ee4463fda867" ns2:_="">
    <xsd:import namespace="93a59706-6099-4f40-8eb4-c72b6da4c22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a59706-6099-4f40-8eb4-c72b6da4c2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1324CD-1BEC-41DA-836E-F3892093FE8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042DF31-9F88-423E-8F6E-F13AB0A0A0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E09873-F0F3-4341-A0C7-51A462EC95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a59706-6099-4f40-8eb4-c72b6da4c2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do Office</Template>
  <TotalTime>318</TotalTime>
  <Words>63</Words>
  <Application>Microsoft Macintosh PowerPoint</Application>
  <PresentationFormat>Ecrã Panorâmico</PresentationFormat>
  <Paragraphs>22</Paragraphs>
  <Slides>2</Slides>
  <Notes>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7" baseType="lpstr">
      <vt:lpstr>Aptos</vt:lpstr>
      <vt:lpstr>Arial</vt:lpstr>
      <vt:lpstr>Helvetica Neue</vt:lpstr>
      <vt:lpstr>Aptos Display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Filipa Ferreira de Lima | imatch</dc:creator>
  <cp:lastModifiedBy>André Costa</cp:lastModifiedBy>
  <cp:revision>30</cp:revision>
  <dcterms:created xsi:type="dcterms:W3CDTF">2026-03-11T11:50:28Z</dcterms:created>
  <dcterms:modified xsi:type="dcterms:W3CDTF">2026-03-17T19:05:14Z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0x010100661E9B0A7FBF2C4CB2E406794A264955</vt:lpwstr>
  </property>
</Properties>
</file>